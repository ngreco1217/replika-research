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1C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None (0) – 37.5%</c:v>
                  </c:pt>
                  <c:pt idx="1">
                    <c:v>Low (1–3) – 44.0%</c:v>
                  </c:pt>
                  <c:pt idx="2">
                    <c:v>Medium (4–6) – 12.2%</c:v>
                  </c:pt>
                  <c:pt idx="3">
                    <c:v>High (7+) – 6.3%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124773</c:v>
                </c:pt>
                <c:pt idx="1">
                  <c:v>146241</c:v>
                </c:pt>
                <c:pt idx="2">
                  <c:v>40660</c:v>
                </c:pt>
                <c:pt idx="3">
                  <c:v>20847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r>
                  <a:rPr sz="2000" b="0" i="0" u="none" strike="noStrike">
                    <a:solidFill>
                      <a:srgbClr val="1C1C1C"/>
                    </a:solidFill>
                    <a:latin typeface="Arial"/>
                  </a:rPr>
                  <a:t>Activity level (times/week)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000"/>
          <c:min val="0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r>
                  <a:rPr sz="2000" b="0" i="0" u="none" strike="noStrike">
                    <a:solidFill>
                      <a:srgbClr val="1C1C1C"/>
                    </a:solidFill>
                    <a:latin typeface="Arial"/>
                  </a:rPr>
                  <a:t>Number of respondents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63550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3" name="Image 0" descr="Vanderbilt University V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685800"/>
            <a:ext cx="4023360" cy="28252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VANDERBILT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251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685800"/>
            <a:ext cx="37170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Association Between Moderate Physical Activity and Self-Reported Depression Outcomes: Evidence from the National Health Interview Survey, 2010–2023</a:t>
            </a:r>
            <a:endParaRPr lang="en-US" sz="85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4069080"/>
            <a:ext cx="3717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Greco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4937760"/>
            <a:ext cx="2985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of Economics &amp; Psychology, Vanderbilt University, Nashville, TN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5394960"/>
            <a:ext cx="2985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study conducted at Pace University (Pforzheimer Honors College), New York, NY.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7444680" y="4800600"/>
            <a:ext cx="5760720" cy="1143000"/>
          </a:xfrm>
          <a:prstGeom prst="roundRect">
            <a:avLst>
              <a:gd name="adj" fmla="val 16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1" name="In-press badge"/>
          <p:cNvSpPr txBox="1"/>
          <p:nvPr/>
        </p:nvSpPr>
        <p:spPr>
          <a:xfrm>
            <a:off x="37627560" y="48463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in press –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 Undergraduate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Public Health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85800" y="6858000"/>
            <a:ext cx="12344400" cy="11018520"/>
          </a:xfrm>
          <a:prstGeom prst="rect">
            <a:avLst/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6858000"/>
            <a:ext cx="1234440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1C1C1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685800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3800" dirty="0"/>
          </a:p>
        </p:txBody>
      </p:sp>
      <p:sp>
        <p:nvSpPr>
          <p:cNvPr id="15" name="Shape 12"/>
          <p:cNvSpPr/>
          <p:nvPr/>
        </p:nvSpPr>
        <p:spPr>
          <a:xfrm>
            <a:off x="1051560" y="800100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34440" y="8001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60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8046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adults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(≈21 million) had a major depressive episode in 2021 (NIMH)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051560" y="9208008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920800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280M</a:t>
            </a:r>
            <a:endParaRPr lang="en-US" sz="60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925372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worldwide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with depression (WHO)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51560" y="10415016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34440" y="10415016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60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1046073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adults aged 18–25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had past-year depression in 2020, up from 10.3% in 2015 (Goodwin et al., 2022)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051560" y="11759184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80160" y="11923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barriers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12399264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waitlists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shortages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6995160" y="11759184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F6F0E3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23760" y="11923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7223760" y="12399264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prescription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anywhere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14045184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evidence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1051560" y="14548104"/>
            <a:ext cx="11612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55600" indent="-355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activity: </a:t>
            </a:r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lower odds</a:t>
            </a:r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developing depression (Kandola et al., 2019)</a:t>
            </a:r>
            <a:endParaRPr lang="en-US" sz="2400" dirty="0"/>
          </a:p>
          <a:p>
            <a:pPr marL="355600" indent="-355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recommended activity: </a:t>
            </a:r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lower risk</a:t>
            </a:r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full amount: </a:t>
            </a:r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(Pearce et al., 2022)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1051560" y="16148304"/>
            <a:ext cx="11612880" cy="1234440"/>
          </a:xfrm>
          <a:prstGeom prst="roundRect">
            <a:avLst>
              <a:gd name="adj" fmla="val 8889"/>
            </a:avLst>
          </a:prstGeom>
          <a:solidFill>
            <a:srgbClr val="F6F0E3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280160" y="16239744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nationally representative studies compare how often people exercise across several dimensions of depression.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685800" y="18333720"/>
            <a:ext cx="12344400" cy="6217920"/>
          </a:xfrm>
          <a:prstGeom prst="rect">
            <a:avLst/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5800" y="18333720"/>
            <a:ext cx="1234440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1C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1833372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</a:t>
            </a:r>
            <a:endParaRPr lang="en-US" sz="38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19476720"/>
            <a:ext cx="1161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often U.S. adults do moderate physical activity linked to their self-reported depression and general health?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2057400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frequent moderate activity is associated with better depression-related outcomes.</a:t>
            </a:r>
            <a:endParaRPr lang="en-US" sz="2400" dirty="0"/>
          </a:p>
        </p:txBody>
      </p:sp>
      <p:sp>
        <p:nvSpPr>
          <p:cNvPr id="39" name="Shape 36"/>
          <p:cNvSpPr/>
          <p:nvPr/>
        </p:nvSpPr>
        <p:spPr>
          <a:xfrm>
            <a:off x="1051560" y="21442680"/>
            <a:ext cx="3931920" cy="2139696"/>
          </a:xfrm>
          <a:prstGeom prst="roundRect">
            <a:avLst>
              <a:gd name="adj" fmla="val 641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234440" y="21442680"/>
            <a:ext cx="356616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physical activity</a:t>
            </a:r>
            <a:endParaRPr lang="en-US" sz="24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· Low · Medium · High</a:t>
            </a:r>
            <a:endParaRPr lang="en-US" sz="2400" dirty="0"/>
          </a:p>
        </p:txBody>
      </p:sp>
      <p:sp>
        <p:nvSpPr>
          <p:cNvPr id="41" name="Shape 38"/>
          <p:cNvSpPr/>
          <p:nvPr/>
        </p:nvSpPr>
        <p:spPr>
          <a:xfrm>
            <a:off x="6675120" y="21442680"/>
            <a:ext cx="5989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675120" y="2144268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6675120" y="22192488"/>
            <a:ext cx="5989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5120" y="22192488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frequency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6675120" y="22942296"/>
            <a:ext cx="5989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675120" y="22942296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level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5074920" y="22512528"/>
            <a:ext cx="1508760" cy="0"/>
          </a:xfrm>
          <a:prstGeom prst="line">
            <a:avLst/>
          </a:prstGeom>
          <a:noFill/>
          <a:ln w="635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4983480" y="220096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to?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5806440" y="22631400"/>
            <a:ext cx="0" cy="1143000"/>
          </a:xfrm>
          <a:prstGeom prst="line">
            <a:avLst/>
          </a:prstGeom>
          <a:noFill/>
          <a:ln w="31750">
            <a:solidFill>
              <a:srgbClr val="8A8A8A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3429000" y="2377440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>
            <a:solidFill>
              <a:srgbClr val="8A8A8A"/>
            </a:solidFill>
            <a:prstDash val="dash"/>
          </a:ln>
        </p:spPr>
      </p:sp>
      <p:sp>
        <p:nvSpPr>
          <p:cNvPr id="51" name="Text 48"/>
          <p:cNvSpPr txBox="1"/>
          <p:nvPr/>
        </p:nvSpPr>
        <p:spPr>
          <a:xfrm>
            <a:off x="3429000" y="23774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demographic &amp; socioeconomic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685800" y="25008840"/>
            <a:ext cx="12344400" cy="7223760"/>
          </a:xfrm>
          <a:prstGeom prst="rect">
            <a:avLst/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85800" y="25008840"/>
            <a:ext cx="1234440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1C1C1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85800" y="2500884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3800" dirty="0"/>
          </a:p>
        </p:txBody>
      </p:sp>
      <p:sp>
        <p:nvSpPr>
          <p:cNvPr id="55" name="Shape 52"/>
          <p:cNvSpPr/>
          <p:nvPr/>
        </p:nvSpPr>
        <p:spPr>
          <a:xfrm>
            <a:off x="1417320" y="26883360"/>
            <a:ext cx="0" cy="731520"/>
          </a:xfrm>
          <a:prstGeom prst="line">
            <a:avLst/>
          </a:prstGeom>
          <a:noFill/>
          <a:ln w="38100">
            <a:solidFill>
              <a:srgbClr val="CFAE7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1560" y="26151840"/>
            <a:ext cx="731520" cy="7315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51560" y="2615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8" name="Text 55"/>
          <p:cNvSpPr txBox="1"/>
          <p:nvPr/>
        </p:nvSpPr>
        <p:spPr>
          <a:xfrm>
            <a:off x="2103120" y="2622499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400" dirty="0"/>
          </a:p>
        </p:txBody>
      </p:sp>
      <p:sp>
        <p:nvSpPr>
          <p:cNvPr id="59" name="Text 56"/>
          <p:cNvSpPr txBox="1"/>
          <p:nvPr/>
        </p:nvSpPr>
        <p:spPr>
          <a:xfrm>
            <a:off x="2103120" y="267004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IPUMS NHIS 2010–2023 · N = 332,521 U.S. adults · self-reported, nationally representative</a:t>
            </a:r>
            <a:endParaRPr lang="en-US" sz="2400" dirty="0"/>
          </a:p>
        </p:txBody>
      </p:sp>
      <p:sp>
        <p:nvSpPr>
          <p:cNvPr id="60" name="Shape 57"/>
          <p:cNvSpPr/>
          <p:nvPr/>
        </p:nvSpPr>
        <p:spPr>
          <a:xfrm>
            <a:off x="1417320" y="28346400"/>
            <a:ext cx="0" cy="594360"/>
          </a:xfrm>
          <a:prstGeom prst="line">
            <a:avLst/>
          </a:prstGeom>
          <a:noFill/>
          <a:ln w="38100">
            <a:solidFill>
              <a:srgbClr val="CFAE7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51560" y="27614880"/>
            <a:ext cx="731520" cy="7315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051560" y="2761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63" name="Text 60"/>
          <p:cNvSpPr txBox="1"/>
          <p:nvPr/>
        </p:nvSpPr>
        <p:spPr>
          <a:xfrm>
            <a:off x="2103120" y="2768803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Exposure: moderate activity, times/week</a:t>
            </a:r>
            <a:endParaRPr lang="en-US" sz="2400" dirty="0"/>
          </a:p>
        </p:txBody>
      </p:sp>
      <p:sp>
        <p:nvSpPr>
          <p:cNvPr id="64" name="Shape 61"/>
          <p:cNvSpPr/>
          <p:nvPr/>
        </p:nvSpPr>
        <p:spPr>
          <a:xfrm>
            <a:off x="2103120" y="28236672"/>
            <a:ext cx="2148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2103120" y="282366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0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4389120" y="28236672"/>
            <a:ext cx="2148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389120" y="282366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1–3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6675120" y="28236672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675120" y="2823667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4–6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9235440" y="28236672"/>
            <a:ext cx="20574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235440" y="2823667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7+</a:t>
            </a:r>
            <a:endParaRPr lang="en-US" sz="1800" dirty="0"/>
          </a:p>
        </p:txBody>
      </p:sp>
      <p:sp>
        <p:nvSpPr>
          <p:cNvPr id="72" name="Shape 69"/>
          <p:cNvSpPr/>
          <p:nvPr/>
        </p:nvSpPr>
        <p:spPr>
          <a:xfrm>
            <a:off x="1417320" y="29672280"/>
            <a:ext cx="0" cy="594360"/>
          </a:xfrm>
          <a:prstGeom prst="line">
            <a:avLst/>
          </a:prstGeom>
          <a:noFill/>
          <a:ln w="38100">
            <a:solidFill>
              <a:srgbClr val="CFAE7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51560" y="28940760"/>
            <a:ext cx="731520" cy="7315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51560" y="28940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75" name="Text 72"/>
          <p:cNvSpPr txBox="1"/>
          <p:nvPr/>
        </p:nvSpPr>
        <p:spPr>
          <a:xfrm>
            <a:off x="2103120" y="2901391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(3 separate models)</a:t>
            </a:r>
            <a:endParaRPr lang="en-US" sz="2400" dirty="0"/>
          </a:p>
        </p:txBody>
      </p:sp>
      <p:sp>
        <p:nvSpPr>
          <p:cNvPr id="76" name="Shape 73"/>
          <p:cNvSpPr/>
          <p:nvPr/>
        </p:nvSpPr>
        <p:spPr>
          <a:xfrm>
            <a:off x="2103120" y="29562552"/>
            <a:ext cx="2880360" cy="566928"/>
          </a:xfrm>
          <a:prstGeom prst="roundRect">
            <a:avLst>
              <a:gd name="adj" fmla="val 16129"/>
            </a:avLst>
          </a:prstGeom>
          <a:solidFill>
            <a:srgbClr val="F6F0E3"/>
          </a:solidFill>
          <a:ln w="19050">
            <a:solidFill>
              <a:srgbClr val="F6F0E3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2103120" y="295625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5120640" y="29562552"/>
            <a:ext cx="3703320" cy="566928"/>
          </a:xfrm>
          <a:prstGeom prst="roundRect">
            <a:avLst>
              <a:gd name="adj" fmla="val 16129"/>
            </a:avLst>
          </a:prstGeom>
          <a:solidFill>
            <a:srgbClr val="F6F0E3"/>
          </a:solidFill>
          <a:ln w="19050">
            <a:solidFill>
              <a:srgbClr val="F6F0E3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5120640" y="2956255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frequency</a:t>
            </a:r>
            <a:endParaRPr lang="en-US" sz="1800" dirty="0"/>
          </a:p>
        </p:txBody>
      </p:sp>
      <p:sp>
        <p:nvSpPr>
          <p:cNvPr id="80" name="Shape 77"/>
          <p:cNvSpPr/>
          <p:nvPr/>
        </p:nvSpPr>
        <p:spPr>
          <a:xfrm>
            <a:off x="8961120" y="29562552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F6F0E3"/>
          </a:solidFill>
          <a:ln w="19050">
            <a:solidFill>
              <a:srgbClr val="F6F0E3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8961120" y="295625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level</a:t>
            </a:r>
            <a:endParaRPr lang="en-US" sz="1800" dirty="0"/>
          </a:p>
        </p:txBody>
      </p:sp>
      <p:sp>
        <p:nvSpPr>
          <p:cNvPr id="82" name="Shape 79"/>
          <p:cNvSpPr/>
          <p:nvPr/>
        </p:nvSpPr>
        <p:spPr>
          <a:xfrm>
            <a:off x="1051560" y="30266640"/>
            <a:ext cx="731520" cy="7315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1051560" y="30266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84" name="Text 81"/>
          <p:cNvSpPr txBox="1"/>
          <p:nvPr/>
        </p:nvSpPr>
        <p:spPr>
          <a:xfrm>
            <a:off x="2103120" y="3033979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regression vs. no activity</a:t>
            </a:r>
            <a:endParaRPr lang="en-US" sz="2400" dirty="0"/>
          </a:p>
        </p:txBody>
      </p:sp>
      <p:sp>
        <p:nvSpPr>
          <p:cNvPr id="85" name="Shape 82"/>
          <p:cNvSpPr/>
          <p:nvPr/>
        </p:nvSpPr>
        <p:spPr>
          <a:xfrm>
            <a:off x="2103120" y="30888432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2103120" y="308884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Activity only</a:t>
            </a:r>
            <a:endParaRPr lang="en-US" sz="1800" dirty="0"/>
          </a:p>
        </p:txBody>
      </p:sp>
      <p:sp>
        <p:nvSpPr>
          <p:cNvPr id="87" name="Shape 84"/>
          <p:cNvSpPr/>
          <p:nvPr/>
        </p:nvSpPr>
        <p:spPr>
          <a:xfrm>
            <a:off x="5257800" y="30888432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5257800" y="3088843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+ Demographic</a:t>
            </a:r>
            <a:endParaRPr lang="en-US" sz="1800" dirty="0"/>
          </a:p>
        </p:txBody>
      </p:sp>
      <p:sp>
        <p:nvSpPr>
          <p:cNvPr id="89" name="Shape 86"/>
          <p:cNvSpPr/>
          <p:nvPr/>
        </p:nvSpPr>
        <p:spPr>
          <a:xfrm>
            <a:off x="8641080" y="3088843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1C1C1C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8641080" y="308884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+ Socioeconomic</a:t>
            </a:r>
            <a:endParaRPr lang="en-US" sz="1800" dirty="0"/>
          </a:p>
        </p:txBody>
      </p:sp>
      <p:sp>
        <p:nvSpPr>
          <p:cNvPr id="91" name="Text 88"/>
          <p:cNvSpPr txBox="1"/>
          <p:nvPr/>
        </p:nvSpPr>
        <p:spPr>
          <a:xfrm>
            <a:off x="2103120" y="3168396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Specification (3), with all controls, is preferred.</a:t>
            </a:r>
            <a:endParaRPr lang="en-US" sz="2000" dirty="0"/>
          </a:p>
        </p:txBody>
      </p:sp>
      <p:sp>
        <p:nvSpPr>
          <p:cNvPr id="92" name="Shape 89"/>
          <p:cNvSpPr/>
          <p:nvPr/>
        </p:nvSpPr>
        <p:spPr>
          <a:xfrm>
            <a:off x="13578840" y="6858000"/>
            <a:ext cx="16733520" cy="25374600"/>
          </a:xfrm>
          <a:prstGeom prst="rect">
            <a:avLst/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3578840" y="6858000"/>
            <a:ext cx="1673352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1C1C1C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3578840" y="6858000"/>
            <a:ext cx="1673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800" dirty="0"/>
          </a:p>
        </p:txBody>
      </p:sp>
      <p:sp>
        <p:nvSpPr>
          <p:cNvPr id="95" name="Shape 92"/>
          <p:cNvSpPr/>
          <p:nvPr/>
        </p:nvSpPr>
        <p:spPr>
          <a:xfrm>
            <a:off x="13944600" y="8001000"/>
            <a:ext cx="16002000" cy="274320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 w="38100">
            <a:solidFill>
              <a:srgbClr val="CFAE70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14218920" y="80010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0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points</a:t>
            </a:r>
            <a:endParaRPr lang="en-US" sz="10000" dirty="0"/>
          </a:p>
        </p:txBody>
      </p:sp>
      <p:sp>
        <p:nvSpPr>
          <p:cNvPr id="97" name="Text 94"/>
          <p:cNvSpPr txBox="1"/>
          <p:nvPr/>
        </p:nvSpPr>
        <p:spPr>
          <a:xfrm>
            <a:off x="19613880" y="8183880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active 4–6 times a week were 2.92 percentage points less likely to report frequent depressive symptoms than inactive adults.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−4.4 to −1.4 · Specification 3</a:t>
            </a:r>
            <a:endParaRPr lang="en-US" sz="2800" dirty="0"/>
          </a:p>
        </p:txBody>
      </p:sp>
      <p:sp>
        <p:nvSpPr>
          <p:cNvPr id="98" name="Text 95"/>
          <p:cNvSpPr txBox="1"/>
          <p:nvPr/>
        </p:nvSpPr>
        <p:spPr>
          <a:xfrm>
            <a:off x="13944600" y="11109960"/>
            <a:ext cx="160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Change in each outcome vs. no activity, by activity level (Spec 3)</a:t>
            </a:r>
            <a:endParaRPr lang="en-US" sz="2400" dirty="0"/>
          </a:p>
        </p:txBody>
      </p:sp>
      <p:sp>
        <p:nvSpPr>
          <p:cNvPr id="99" name="Shape 96"/>
          <p:cNvSpPr/>
          <p:nvPr/>
        </p:nvSpPr>
        <p:spPr>
          <a:xfrm>
            <a:off x="14036040" y="11786616"/>
            <a:ext cx="274320" cy="274320"/>
          </a:xfrm>
          <a:prstGeom prst="ellipse">
            <a:avLst/>
          </a:prstGeom>
          <a:solidFill>
            <a:srgbClr val="1C1C1C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14447520" y="117317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(95% CI excludes 0)</a:t>
            </a:r>
            <a:endParaRPr lang="en-US" sz="1800" dirty="0"/>
          </a:p>
        </p:txBody>
      </p:sp>
      <p:sp>
        <p:nvSpPr>
          <p:cNvPr id="101" name="Shape 98"/>
          <p:cNvSpPr/>
          <p:nvPr/>
        </p:nvSpPr>
        <p:spPr>
          <a:xfrm>
            <a:off x="19613880" y="11786616"/>
            <a:ext cx="274320" cy="274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A8A8A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20025360" y="11731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</a:t>
            </a:r>
            <a:endParaRPr lang="en-US" sz="1800" dirty="0"/>
          </a:p>
        </p:txBody>
      </p:sp>
      <p:sp>
        <p:nvSpPr>
          <p:cNvPr id="103" name="Shape 100"/>
          <p:cNvSpPr/>
          <p:nvPr/>
        </p:nvSpPr>
        <p:spPr>
          <a:xfrm>
            <a:off x="22631400" y="11786616"/>
            <a:ext cx="274320" cy="2743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23042880" y="11731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finding</a:t>
            </a:r>
            <a:endParaRPr lang="en-US" sz="1800" dirty="0"/>
          </a:p>
        </p:txBody>
      </p:sp>
      <p:sp>
        <p:nvSpPr>
          <p:cNvPr id="105" name="Text 102"/>
          <p:cNvSpPr txBox="1"/>
          <p:nvPr/>
        </p:nvSpPr>
        <p:spPr>
          <a:xfrm rot="16200000">
            <a:off x="12344400" y="150647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level (times/week)</a:t>
            </a:r>
            <a:endParaRPr lang="en-US" sz="2000" dirty="0"/>
          </a:p>
        </p:txBody>
      </p:sp>
      <p:sp>
        <p:nvSpPr>
          <p:cNvPr id="106" name="Text 103"/>
          <p:cNvSpPr txBox="1"/>
          <p:nvPr/>
        </p:nvSpPr>
        <p:spPr>
          <a:xfrm>
            <a:off x="14447520" y="134645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(1–3)</a:t>
            </a:r>
            <a:endParaRPr lang="en-US" sz="2200" dirty="0"/>
          </a:p>
        </p:txBody>
      </p:sp>
      <p:sp>
        <p:nvSpPr>
          <p:cNvPr id="107" name="Text 104"/>
          <p:cNvSpPr txBox="1"/>
          <p:nvPr/>
        </p:nvSpPr>
        <p:spPr>
          <a:xfrm>
            <a:off x="14447520" y="150647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(4–6)</a:t>
            </a:r>
            <a:endParaRPr lang="en-US" sz="2200" dirty="0"/>
          </a:p>
        </p:txBody>
      </p:sp>
      <p:sp>
        <p:nvSpPr>
          <p:cNvPr id="108" name="Text 105"/>
          <p:cNvSpPr txBox="1"/>
          <p:nvPr/>
        </p:nvSpPr>
        <p:spPr>
          <a:xfrm>
            <a:off x="14447520" y="166649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(7+)</a:t>
            </a:r>
            <a:endParaRPr lang="en-US" sz="2200" dirty="0"/>
          </a:p>
        </p:txBody>
      </p:sp>
      <p:sp>
        <p:nvSpPr>
          <p:cNvPr id="109" name="Text 106"/>
          <p:cNvSpPr txBox="1"/>
          <p:nvPr/>
        </p:nvSpPr>
        <p:spPr>
          <a:xfrm>
            <a:off x="17145000" y="123444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Poor general health</a:t>
            </a:r>
            <a:endParaRPr lang="en-US" sz="2200" dirty="0"/>
          </a:p>
        </p:txBody>
      </p:sp>
      <p:sp>
        <p:nvSpPr>
          <p:cNvPr id="110" name="Shape 107"/>
          <p:cNvSpPr/>
          <p:nvPr/>
        </p:nvSpPr>
        <p:spPr>
          <a:xfrm>
            <a:off x="17145000" y="12893040"/>
            <a:ext cx="3962400" cy="480060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741932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41932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13" name="Text 110"/>
          <p:cNvSpPr txBox="1"/>
          <p:nvPr/>
        </p:nvSpPr>
        <p:spPr>
          <a:xfrm>
            <a:off x="1687068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</a:t>
            </a:r>
            <a:endParaRPr lang="en-US" sz="1800" dirty="0"/>
          </a:p>
        </p:txBody>
      </p:sp>
      <p:sp>
        <p:nvSpPr>
          <p:cNvPr id="114" name="Shape 111"/>
          <p:cNvSpPr/>
          <p:nvPr/>
        </p:nvSpPr>
        <p:spPr>
          <a:xfrm>
            <a:off x="1827276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827276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1772412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</a:t>
            </a:r>
            <a:endParaRPr lang="en-US" sz="1800" dirty="0"/>
          </a:p>
        </p:txBody>
      </p:sp>
      <p:sp>
        <p:nvSpPr>
          <p:cNvPr id="117" name="Shape 114"/>
          <p:cNvSpPr/>
          <p:nvPr/>
        </p:nvSpPr>
        <p:spPr>
          <a:xfrm>
            <a:off x="1912620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912620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19" name="Text 116"/>
          <p:cNvSpPr txBox="1"/>
          <p:nvPr/>
        </p:nvSpPr>
        <p:spPr>
          <a:xfrm>
            <a:off x="1857756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endParaRPr lang="en-US" sz="1800" dirty="0"/>
          </a:p>
        </p:txBody>
      </p:sp>
      <p:sp>
        <p:nvSpPr>
          <p:cNvPr id="120" name="Shape 117"/>
          <p:cNvSpPr/>
          <p:nvPr/>
        </p:nvSpPr>
        <p:spPr>
          <a:xfrm>
            <a:off x="1997964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997964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1943100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1800" dirty="0"/>
          </a:p>
        </p:txBody>
      </p:sp>
      <p:sp>
        <p:nvSpPr>
          <p:cNvPr id="123" name="Shape 120"/>
          <p:cNvSpPr/>
          <p:nvPr/>
        </p:nvSpPr>
        <p:spPr>
          <a:xfrm>
            <a:off x="20833080" y="12893040"/>
            <a:ext cx="0" cy="4800600"/>
          </a:xfrm>
          <a:prstGeom prst="line">
            <a:avLst/>
          </a:prstGeom>
          <a:noFill/>
          <a:ln w="25400">
            <a:solidFill>
              <a:srgbClr val="1C1C1C"/>
            </a:solidFill>
            <a:prstDash val="dash"/>
          </a:ln>
        </p:spPr>
      </p:sp>
      <p:sp>
        <p:nvSpPr>
          <p:cNvPr id="124" name="Shape 121"/>
          <p:cNvSpPr/>
          <p:nvPr/>
        </p:nvSpPr>
        <p:spPr>
          <a:xfrm>
            <a:off x="2083308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5" name="Text 122"/>
          <p:cNvSpPr txBox="1"/>
          <p:nvPr/>
        </p:nvSpPr>
        <p:spPr>
          <a:xfrm>
            <a:off x="2028444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26" name="Shape 123"/>
          <p:cNvSpPr/>
          <p:nvPr/>
        </p:nvSpPr>
        <p:spPr>
          <a:xfrm>
            <a:off x="18801893" y="13830300"/>
            <a:ext cx="187757" cy="0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8801893" y="137114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8989650" y="137114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8740323" y="13674852"/>
            <a:ext cx="310896" cy="310896"/>
          </a:xfrm>
          <a:prstGeom prst="ellipse">
            <a:avLst/>
          </a:prstGeom>
          <a:solidFill>
            <a:srgbClr val="1C1C1C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18347131" y="131719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−22.7</a:t>
            </a:r>
            <a:endParaRPr lang="en-US" sz="1800" dirty="0"/>
          </a:p>
        </p:txBody>
      </p:sp>
      <p:sp>
        <p:nvSpPr>
          <p:cNvPr id="131" name="Shape 128"/>
          <p:cNvSpPr/>
          <p:nvPr/>
        </p:nvSpPr>
        <p:spPr>
          <a:xfrm>
            <a:off x="17786299" y="15430500"/>
            <a:ext cx="256032" cy="0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7786299" y="153116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8042331" y="153116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7758867" y="15275052"/>
            <a:ext cx="310896" cy="310896"/>
          </a:xfrm>
          <a:prstGeom prst="ellipse">
            <a:avLst/>
          </a:prstGeom>
          <a:solidFill>
            <a:srgbClr val="1C1C1C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35" name="Text 132"/>
          <p:cNvSpPr txBox="1"/>
          <p:nvPr/>
        </p:nvSpPr>
        <p:spPr>
          <a:xfrm>
            <a:off x="17365675" y="147721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−34.2</a:t>
            </a:r>
            <a:endParaRPr lang="en-US" sz="1800" dirty="0"/>
          </a:p>
        </p:txBody>
      </p:sp>
      <p:sp>
        <p:nvSpPr>
          <p:cNvPr id="136" name="Shape 133"/>
          <p:cNvSpPr/>
          <p:nvPr/>
        </p:nvSpPr>
        <p:spPr>
          <a:xfrm>
            <a:off x="17598542" y="17030700"/>
            <a:ext cx="341376" cy="0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7598542" y="169118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17939918" y="169118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17613782" y="16875252"/>
            <a:ext cx="310896" cy="310896"/>
          </a:xfrm>
          <a:prstGeom prst="ellipse">
            <a:avLst/>
          </a:prstGeom>
          <a:solidFill>
            <a:srgbClr val="1C1C1C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40" name="Text 137"/>
          <p:cNvSpPr txBox="1"/>
          <p:nvPr/>
        </p:nvSpPr>
        <p:spPr>
          <a:xfrm>
            <a:off x="17220590" y="163723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−35.9</a:t>
            </a:r>
            <a:endParaRPr lang="en-US" sz="1800" dirty="0"/>
          </a:p>
        </p:txBody>
      </p:sp>
      <p:sp>
        <p:nvSpPr>
          <p:cNvPr id="141" name="Text 138"/>
          <p:cNvSpPr txBox="1"/>
          <p:nvPr/>
        </p:nvSpPr>
        <p:spPr>
          <a:xfrm>
            <a:off x="21564600" y="123444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Frequent depression</a:t>
            </a:r>
            <a:endParaRPr lang="en-US" sz="2200" dirty="0"/>
          </a:p>
        </p:txBody>
      </p:sp>
      <p:sp>
        <p:nvSpPr>
          <p:cNvPr id="142" name="Shape 139"/>
          <p:cNvSpPr/>
          <p:nvPr/>
        </p:nvSpPr>
        <p:spPr>
          <a:xfrm>
            <a:off x="21564600" y="12893040"/>
            <a:ext cx="3962400" cy="480060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2240788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2240788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45" name="Text 142"/>
          <p:cNvSpPr txBox="1"/>
          <p:nvPr/>
        </p:nvSpPr>
        <p:spPr>
          <a:xfrm>
            <a:off x="2185924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146" name="Shape 143"/>
          <p:cNvSpPr/>
          <p:nvPr/>
        </p:nvSpPr>
        <p:spPr>
          <a:xfrm>
            <a:off x="2354580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2354580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48" name="Text 145"/>
          <p:cNvSpPr txBox="1"/>
          <p:nvPr/>
        </p:nvSpPr>
        <p:spPr>
          <a:xfrm>
            <a:off x="2299716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149" name="Shape 146"/>
          <p:cNvSpPr/>
          <p:nvPr/>
        </p:nvSpPr>
        <p:spPr>
          <a:xfrm>
            <a:off x="24683720" y="12893040"/>
            <a:ext cx="0" cy="4800600"/>
          </a:xfrm>
          <a:prstGeom prst="line">
            <a:avLst/>
          </a:prstGeom>
          <a:noFill/>
          <a:ln w="25400">
            <a:solidFill>
              <a:srgbClr val="1C1C1C"/>
            </a:solidFill>
            <a:prstDash val="dash"/>
          </a:ln>
        </p:spPr>
      </p:sp>
      <p:sp>
        <p:nvSpPr>
          <p:cNvPr id="150" name="Shape 147"/>
          <p:cNvSpPr/>
          <p:nvPr/>
        </p:nvSpPr>
        <p:spPr>
          <a:xfrm>
            <a:off x="2468372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51" name="Text 148"/>
          <p:cNvSpPr txBox="1"/>
          <p:nvPr/>
        </p:nvSpPr>
        <p:spPr>
          <a:xfrm>
            <a:off x="2413508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52" name="Shape 149"/>
          <p:cNvSpPr/>
          <p:nvPr/>
        </p:nvSpPr>
        <p:spPr>
          <a:xfrm>
            <a:off x="23830280" y="13830300"/>
            <a:ext cx="1194816" cy="0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3830280" y="137114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25025096" y="137114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24269964" y="1367485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23876772" y="131719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−0.454</a:t>
            </a:r>
            <a:endParaRPr lang="en-US" sz="1800" dirty="0"/>
          </a:p>
        </p:txBody>
      </p:sp>
      <p:sp>
        <p:nvSpPr>
          <p:cNvPr id="157" name="Shape 154"/>
          <p:cNvSpPr/>
          <p:nvPr/>
        </p:nvSpPr>
        <p:spPr>
          <a:xfrm>
            <a:off x="22180296" y="15430500"/>
            <a:ext cx="1706880" cy="0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22180296" y="153116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23887176" y="153116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22830333" y="15238476"/>
            <a:ext cx="384048" cy="38404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61" name="Text 158"/>
          <p:cNvSpPr txBox="1"/>
          <p:nvPr/>
        </p:nvSpPr>
        <p:spPr>
          <a:xfrm>
            <a:off x="22473717" y="147721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800" dirty="0"/>
          </a:p>
        </p:txBody>
      </p:sp>
      <p:sp>
        <p:nvSpPr>
          <p:cNvPr id="162" name="Shape 159"/>
          <p:cNvSpPr/>
          <p:nvPr/>
        </p:nvSpPr>
        <p:spPr>
          <a:xfrm>
            <a:off x="22123400" y="17030700"/>
            <a:ext cx="2275840" cy="0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2123400" y="169118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4399240" y="16911828"/>
            <a:ext cx="0" cy="237744"/>
          </a:xfrm>
          <a:prstGeom prst="line">
            <a:avLst/>
          </a:prstGeom>
          <a:noFill/>
          <a:ln w="50800">
            <a:solidFill>
              <a:srgbClr val="1C1C1C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23105872" y="16875252"/>
            <a:ext cx="310896" cy="310896"/>
          </a:xfrm>
          <a:prstGeom prst="ellipse">
            <a:avLst/>
          </a:prstGeom>
          <a:solidFill>
            <a:srgbClr val="1C1C1C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166" name="Text 163"/>
          <p:cNvSpPr txBox="1"/>
          <p:nvPr/>
        </p:nvSpPr>
        <p:spPr>
          <a:xfrm>
            <a:off x="22712680" y="163723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−2.50</a:t>
            </a:r>
            <a:endParaRPr lang="en-US" sz="1800" dirty="0"/>
          </a:p>
        </p:txBody>
      </p:sp>
      <p:sp>
        <p:nvSpPr>
          <p:cNvPr id="167" name="Text 164"/>
          <p:cNvSpPr txBox="1"/>
          <p:nvPr/>
        </p:nvSpPr>
        <p:spPr>
          <a:xfrm>
            <a:off x="25984200" y="123444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Depression level</a:t>
            </a:r>
            <a:endParaRPr lang="en-US" sz="2200" dirty="0"/>
          </a:p>
        </p:txBody>
      </p:sp>
      <p:sp>
        <p:nvSpPr>
          <p:cNvPr id="168" name="Shape 165"/>
          <p:cNvSpPr/>
          <p:nvPr/>
        </p:nvSpPr>
        <p:spPr>
          <a:xfrm>
            <a:off x="25984200" y="12893040"/>
            <a:ext cx="3962400" cy="480060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2625852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2625852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1" name="Text 168"/>
          <p:cNvSpPr txBox="1"/>
          <p:nvPr/>
        </p:nvSpPr>
        <p:spPr>
          <a:xfrm>
            <a:off x="2570988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172" name="Shape 169"/>
          <p:cNvSpPr/>
          <p:nvPr/>
        </p:nvSpPr>
        <p:spPr>
          <a:xfrm>
            <a:off x="2723388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2723388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4" name="Text 171"/>
          <p:cNvSpPr txBox="1"/>
          <p:nvPr/>
        </p:nvSpPr>
        <p:spPr>
          <a:xfrm>
            <a:off x="2668524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175" name="Shape 172"/>
          <p:cNvSpPr/>
          <p:nvPr/>
        </p:nvSpPr>
        <p:spPr>
          <a:xfrm>
            <a:off x="28209240" y="12893040"/>
            <a:ext cx="0" cy="4800600"/>
          </a:xfrm>
          <a:prstGeom prst="line">
            <a:avLst/>
          </a:prstGeom>
          <a:noFill/>
          <a:ln w="25400">
            <a:solidFill>
              <a:srgbClr val="1C1C1C"/>
            </a:solidFill>
            <a:prstDash val="dash"/>
          </a:ln>
        </p:spPr>
      </p:sp>
      <p:sp>
        <p:nvSpPr>
          <p:cNvPr id="176" name="Shape 173"/>
          <p:cNvSpPr/>
          <p:nvPr/>
        </p:nvSpPr>
        <p:spPr>
          <a:xfrm>
            <a:off x="2820924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7" name="Text 174"/>
          <p:cNvSpPr txBox="1"/>
          <p:nvPr/>
        </p:nvSpPr>
        <p:spPr>
          <a:xfrm>
            <a:off x="2766060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78" name="Shape 175"/>
          <p:cNvSpPr/>
          <p:nvPr/>
        </p:nvSpPr>
        <p:spPr>
          <a:xfrm>
            <a:off x="29184600" y="12893040"/>
            <a:ext cx="0" cy="48006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29184600" y="17693640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0" name="Text 177"/>
          <p:cNvSpPr txBox="1"/>
          <p:nvPr/>
        </p:nvSpPr>
        <p:spPr>
          <a:xfrm>
            <a:off x="28635960" y="17830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1" name="Shape 178"/>
          <p:cNvSpPr/>
          <p:nvPr/>
        </p:nvSpPr>
        <p:spPr>
          <a:xfrm>
            <a:off x="27282648" y="13830300"/>
            <a:ext cx="1560576" cy="0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27282648" y="137114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28843224" y="137114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27895784" y="1367485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27502592" y="131719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−0.324</a:t>
            </a:r>
            <a:endParaRPr lang="en-US" sz="1800" dirty="0"/>
          </a:p>
        </p:txBody>
      </p:sp>
      <p:sp>
        <p:nvSpPr>
          <p:cNvPr id="186" name="Shape 183"/>
          <p:cNvSpPr/>
          <p:nvPr/>
        </p:nvSpPr>
        <p:spPr>
          <a:xfrm>
            <a:off x="26404824" y="15430500"/>
            <a:ext cx="2194560" cy="0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26404824" y="153116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28599384" y="153116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27346656" y="1527505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190" name="Text 187"/>
          <p:cNvSpPr txBox="1"/>
          <p:nvPr/>
        </p:nvSpPr>
        <p:spPr>
          <a:xfrm>
            <a:off x="26953464" y="147721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−1.45</a:t>
            </a:r>
            <a:endParaRPr lang="en-US" sz="1800" dirty="0"/>
          </a:p>
        </p:txBody>
      </p:sp>
      <p:sp>
        <p:nvSpPr>
          <p:cNvPr id="191" name="Shape 188"/>
          <p:cNvSpPr/>
          <p:nvPr/>
        </p:nvSpPr>
        <p:spPr>
          <a:xfrm>
            <a:off x="26599896" y="17030700"/>
            <a:ext cx="2828544" cy="0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26599896" y="169118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29428440" y="16911828"/>
            <a:ext cx="0" cy="237744"/>
          </a:xfrm>
          <a:prstGeom prst="line">
            <a:avLst/>
          </a:prstGeom>
          <a:noFill/>
          <a:ln w="50800">
            <a:solidFill>
              <a:srgbClr val="8A8A8A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27860183" y="1687525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195" name="Text 192"/>
          <p:cNvSpPr txBox="1"/>
          <p:nvPr/>
        </p:nvSpPr>
        <p:spPr>
          <a:xfrm>
            <a:off x="27466991" y="16372332"/>
            <a:ext cx="1097280" cy="34747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−0.397</a:t>
            </a:r>
            <a:endParaRPr lang="en-US" sz="1800" dirty="0"/>
          </a:p>
        </p:txBody>
      </p:sp>
      <p:sp>
        <p:nvSpPr>
          <p:cNvPr id="196" name="Text 193"/>
          <p:cNvSpPr txBox="1"/>
          <p:nvPr/>
        </p:nvSpPr>
        <p:spPr>
          <a:xfrm>
            <a:off x="17145000" y="18242280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in likelihood vs. inactive adults (percentage points)</a:t>
            </a:r>
            <a:endParaRPr lang="en-US" sz="2000" dirty="0"/>
          </a:p>
        </p:txBody>
      </p:sp>
      <p:sp>
        <p:nvSpPr>
          <p:cNvPr id="197" name="Text 194"/>
          <p:cNvSpPr txBox="1"/>
          <p:nvPr/>
        </p:nvSpPr>
        <p:spPr>
          <a:xfrm>
            <a:off x="13944600" y="18699480"/>
            <a:ext cx="1600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Dots = estimates; bars = 95% confidence intervals. Values below 0 mean less likely than adults with no moderate activity. Each panel has its own scale.</a:t>
            </a:r>
            <a:endParaRPr lang="en-US" sz="1800" dirty="0"/>
          </a:p>
        </p:txBody>
      </p:sp>
      <p:sp>
        <p:nvSpPr>
          <p:cNvPr id="198" name="Text 195"/>
          <p:cNvSpPr txBox="1"/>
          <p:nvPr/>
        </p:nvSpPr>
        <p:spPr>
          <a:xfrm>
            <a:off x="13944600" y="19659600"/>
            <a:ext cx="160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2. Sample size by moderate activity level (N = 332,521; % of sample)</a:t>
            </a:r>
            <a:endParaRPr lang="en-US" sz="2400" dirty="0"/>
          </a:p>
        </p:txBody>
      </p:sp>
      <p:graphicFrame>
        <p:nvGraphicFramePr>
          <p:cNvPr id="199" name="Chart 0" descr=""/>
          <p:cNvGraphicFramePr/>
          <p:nvPr/>
        </p:nvGraphicFramePr>
        <p:xfrm>
          <a:off x="13944600" y="20162520"/>
          <a:ext cx="160020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0" name="Text 196"/>
          <p:cNvSpPr txBox="1"/>
          <p:nvPr/>
        </p:nvSpPr>
        <p:spPr>
          <a:xfrm>
            <a:off x="13944600" y="25786080"/>
            <a:ext cx="160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Specification 3 estimates, percentage points [95% CI]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944600" y="26334720"/>
          <a:ext cx="16002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67200"/>
                <a:gridCol w="4267200"/>
                <a:gridCol w="42672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health (poor)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frequency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(1–3)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−22.7*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[−23.8, −21.6]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[−1.5, 0.6]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[−1.9, 1.3]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(4–6)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−34.2*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[−35.7, −32.7]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−2.92*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[−4.4, −1.4]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[−3.7, 0.8]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(7+)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−35.9*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[−37.9, −33.9]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−2.50*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[−4.5, −0.5]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[−3.3, 2.5]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161,344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160,974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66,089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2" name="Text 197"/>
          <p:cNvSpPr txBox="1"/>
          <p:nvPr/>
        </p:nvSpPr>
        <p:spPr>
          <a:xfrm>
            <a:off x="13944600" y="30906720"/>
            <a:ext cx="1600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Statistically significant (95% CI excludes 0). Reference group: no moderate activity.</a:t>
            </a:r>
            <a:endParaRPr lang="en-US" sz="1800" dirty="0"/>
          </a:p>
        </p:txBody>
      </p:sp>
      <p:sp>
        <p:nvSpPr>
          <p:cNvPr id="203" name="Shape 198"/>
          <p:cNvSpPr/>
          <p:nvPr/>
        </p:nvSpPr>
        <p:spPr>
          <a:xfrm>
            <a:off x="30861000" y="6858000"/>
            <a:ext cx="12344400" cy="8915400"/>
          </a:xfrm>
          <a:prstGeom prst="rect">
            <a:avLst/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30861000" y="6858000"/>
            <a:ext cx="1234440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1C1C1C"/>
            </a:solidFill>
            <a:prstDash val="solid"/>
          </a:ln>
        </p:spPr>
      </p:sp>
      <p:sp>
        <p:nvSpPr>
          <p:cNvPr id="205" name="Text 200"/>
          <p:cNvSpPr txBox="1"/>
          <p:nvPr/>
        </p:nvSpPr>
        <p:spPr>
          <a:xfrm>
            <a:off x="30861000" y="685800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3800" dirty="0"/>
          </a:p>
        </p:txBody>
      </p:sp>
      <p:sp>
        <p:nvSpPr>
          <p:cNvPr id="206" name="Text 201"/>
          <p:cNvSpPr txBox="1"/>
          <p:nvPr/>
        </p:nvSpPr>
        <p:spPr>
          <a:xfrm>
            <a:off x="31226760" y="8001000"/>
            <a:ext cx="11612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55600" indent="-3556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but meaningful: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sessions a week was linked to fewer frequent depressive symptoms</a:t>
            </a:r>
            <a:endParaRPr lang="en-US" sz="2400" dirty="0"/>
          </a:p>
          <a:p>
            <a:pPr marL="355600" indent="-3556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self-rated health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activity level (−22.7 to −35.9 pp)</a:t>
            </a:r>
            <a:endParaRPr lang="en-US" sz="2400" dirty="0"/>
          </a:p>
          <a:p>
            <a:pPr marL="355600" indent="-3556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prior work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activity to lower depression risk (Kandola et al., 2019; Pearce et al., 2022)</a:t>
            </a:r>
            <a:endParaRPr lang="en-US" sz="2400" dirty="0"/>
          </a:p>
          <a:p>
            <a:pPr marL="355600" indent="-3556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pathways: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stress, better sleep, greater well-being</a:t>
            </a:r>
            <a:endParaRPr lang="en-US" sz="2400" dirty="0"/>
          </a:p>
          <a:p>
            <a:pPr marL="355600" indent="-3556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 with depression level: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CIs include 0 (R² = 0.038)</a:t>
            </a:r>
            <a:endParaRPr lang="en-US" sz="2400" dirty="0"/>
          </a:p>
          <a:p>
            <a:pPr marL="355600" indent="-3556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Socioeconomic status matters: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receipt consistently predicted worse outcomes (Alzahrani et al., 2024)</a:t>
            </a:r>
            <a:endParaRPr lang="en-US" sz="2400" dirty="0"/>
          </a:p>
        </p:txBody>
      </p:sp>
      <p:sp>
        <p:nvSpPr>
          <p:cNvPr id="207" name="Shape 202"/>
          <p:cNvSpPr/>
          <p:nvPr/>
        </p:nvSpPr>
        <p:spPr>
          <a:xfrm>
            <a:off x="31226760" y="12710160"/>
            <a:ext cx="11612880" cy="2697480"/>
          </a:xfrm>
          <a:prstGeom prst="roundRect">
            <a:avLst>
              <a:gd name="adj" fmla="val 4068"/>
            </a:avLst>
          </a:prstGeom>
          <a:solidFill>
            <a:srgbClr val="F2F2F2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8" name="Text 203"/>
          <p:cNvSpPr txBox="1"/>
          <p:nvPr/>
        </p:nvSpPr>
        <p:spPr>
          <a:xfrm>
            <a:off x="31455360" y="1284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209" name="Text 204"/>
          <p:cNvSpPr txBox="1"/>
          <p:nvPr/>
        </p:nvSpPr>
        <p:spPr>
          <a:xfrm>
            <a:off x="31455360" y="13350240"/>
            <a:ext cx="11155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Self-reported data: social desirability &amp; extreme response bias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Unobserved confounders (e.g., sleep, genetics)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data show association, not cause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measured only in categories</a:t>
            </a:r>
            <a:endParaRPr lang="en-US" sz="2400" dirty="0"/>
          </a:p>
        </p:txBody>
      </p:sp>
      <p:sp>
        <p:nvSpPr>
          <p:cNvPr id="210" name="Shape 205"/>
          <p:cNvSpPr/>
          <p:nvPr/>
        </p:nvSpPr>
        <p:spPr>
          <a:xfrm>
            <a:off x="30861000" y="16230600"/>
            <a:ext cx="12344400" cy="7726680"/>
          </a:xfrm>
          <a:prstGeom prst="rect">
            <a:avLst/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30861000" y="16230600"/>
            <a:ext cx="1234440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1C1C1C"/>
            </a:solidFill>
            <a:prstDash val="solid"/>
          </a:ln>
        </p:spPr>
      </p:sp>
      <p:sp>
        <p:nvSpPr>
          <p:cNvPr id="212" name="Text 207"/>
          <p:cNvSpPr txBox="1"/>
          <p:nvPr/>
        </p:nvSpPr>
        <p:spPr>
          <a:xfrm>
            <a:off x="30861000" y="1623060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213" name="Shape 208"/>
          <p:cNvSpPr/>
          <p:nvPr/>
        </p:nvSpPr>
        <p:spPr>
          <a:xfrm>
            <a:off x="31226760" y="17419320"/>
            <a:ext cx="731520" cy="7315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214" name="Text 209"/>
          <p:cNvSpPr txBox="1"/>
          <p:nvPr/>
        </p:nvSpPr>
        <p:spPr>
          <a:xfrm>
            <a:off x="31226760" y="17419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215" name="Text 210"/>
          <p:cNvSpPr txBox="1"/>
          <p:nvPr/>
        </p:nvSpPr>
        <p:spPr>
          <a:xfrm>
            <a:off x="32232600" y="173736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moderately active 4–6 times a week was linked to a lower chance of feeling depressed often.</a:t>
            </a:r>
            <a:endParaRPr lang="en-US" sz="2400" dirty="0"/>
          </a:p>
        </p:txBody>
      </p:sp>
      <p:sp>
        <p:nvSpPr>
          <p:cNvPr id="216" name="Shape 211"/>
          <p:cNvSpPr/>
          <p:nvPr/>
        </p:nvSpPr>
        <p:spPr>
          <a:xfrm>
            <a:off x="31226760" y="18699480"/>
            <a:ext cx="731520" cy="7315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217" name="Text 212"/>
          <p:cNvSpPr txBox="1"/>
          <p:nvPr/>
        </p:nvSpPr>
        <p:spPr>
          <a:xfrm>
            <a:off x="31226760" y="18699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218" name="Text 213"/>
          <p:cNvSpPr txBox="1"/>
          <p:nvPr/>
        </p:nvSpPr>
        <p:spPr>
          <a:xfrm>
            <a:off x="32232600" y="186537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regular moderate activity – even 1–3 times a week – was linked to better self-rated health.</a:t>
            </a:r>
            <a:endParaRPr lang="en-US" sz="2400" dirty="0"/>
          </a:p>
        </p:txBody>
      </p:sp>
      <p:sp>
        <p:nvSpPr>
          <p:cNvPr id="219" name="Shape 214"/>
          <p:cNvSpPr/>
          <p:nvPr/>
        </p:nvSpPr>
        <p:spPr>
          <a:xfrm>
            <a:off x="31226760" y="19979640"/>
            <a:ext cx="731520" cy="73152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220" name="Text 215"/>
          <p:cNvSpPr txBox="1"/>
          <p:nvPr/>
        </p:nvSpPr>
        <p:spPr>
          <a:xfrm>
            <a:off x="31226760" y="19979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1" name="Text 216"/>
          <p:cNvSpPr txBox="1"/>
          <p:nvPr/>
        </p:nvSpPr>
        <p:spPr>
          <a:xfrm>
            <a:off x="32232600" y="199339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is not a cure: it was not linked to how severe depression feels, so it should complement, not replace, treatment.</a:t>
            </a:r>
            <a:endParaRPr lang="en-US" sz="2400" dirty="0"/>
          </a:p>
        </p:txBody>
      </p:sp>
      <p:sp>
        <p:nvSpPr>
          <p:cNvPr id="222" name="Shape 217"/>
          <p:cNvSpPr/>
          <p:nvPr/>
        </p:nvSpPr>
        <p:spPr>
          <a:xfrm>
            <a:off x="31226760" y="21625560"/>
            <a:ext cx="11612880" cy="2148840"/>
          </a:xfrm>
          <a:prstGeom prst="roundRect">
            <a:avLst>
              <a:gd name="adj" fmla="val 5106"/>
            </a:avLst>
          </a:prstGeom>
          <a:solidFill>
            <a:srgbClr val="F6F0E3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223" name="Text 218"/>
          <p:cNvSpPr txBox="1"/>
          <p:nvPr/>
        </p:nvSpPr>
        <p:spPr>
          <a:xfrm>
            <a:off x="31455360" y="21762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224" name="Text 219"/>
          <p:cNvSpPr txBox="1"/>
          <p:nvPr/>
        </p:nvSpPr>
        <p:spPr>
          <a:xfrm>
            <a:off x="31455360" y="22265640"/>
            <a:ext cx="11155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activity as a treatment for people clinically diagnosed with depression</a:t>
            </a:r>
            <a:endParaRPr lang="en-US" sz="2400" dirty="0"/>
          </a:p>
          <a:p>
            <a:pPr marL="355600" indent="-355600"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real-time, individual-level improvement</a:t>
            </a:r>
            <a:endParaRPr lang="en-US" sz="2400" dirty="0"/>
          </a:p>
        </p:txBody>
      </p:sp>
      <p:sp>
        <p:nvSpPr>
          <p:cNvPr id="225" name="Shape 220"/>
          <p:cNvSpPr/>
          <p:nvPr/>
        </p:nvSpPr>
        <p:spPr>
          <a:xfrm>
            <a:off x="30861000" y="24414480"/>
            <a:ext cx="12344400" cy="7818120"/>
          </a:xfrm>
          <a:prstGeom prst="rect">
            <a:avLst/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30861000" y="24414480"/>
            <a:ext cx="1234440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1C1C1C"/>
            </a:solidFill>
            <a:prstDash val="solid"/>
          </a:ln>
        </p:spPr>
      </p:sp>
      <p:sp>
        <p:nvSpPr>
          <p:cNvPr id="227" name="Text 222"/>
          <p:cNvSpPr txBox="1"/>
          <p:nvPr/>
        </p:nvSpPr>
        <p:spPr>
          <a:xfrm>
            <a:off x="30861000" y="24414480"/>
            <a:ext cx="1234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3800" dirty="0"/>
          </a:p>
        </p:txBody>
      </p:sp>
      <p:sp>
        <p:nvSpPr>
          <p:cNvPr id="228" name="Text 223"/>
          <p:cNvSpPr txBox="1"/>
          <p:nvPr/>
        </p:nvSpPr>
        <p:spPr>
          <a:xfrm>
            <a:off x="31226760" y="25466040"/>
            <a:ext cx="1161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thank Professor Osborne for his helpful feedback on the manuscript, and my mom and dad for their constant support and encouragement.</a:t>
            </a:r>
            <a:endParaRPr lang="en-US" sz="2400" dirty="0"/>
          </a:p>
        </p:txBody>
      </p:sp>
      <p:sp>
        <p:nvSpPr>
          <p:cNvPr id="229" name="Text 224"/>
          <p:cNvSpPr txBox="1"/>
          <p:nvPr/>
        </p:nvSpPr>
        <p:spPr>
          <a:xfrm>
            <a:off x="31226760" y="2674620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independent study received no external funding.</a:t>
            </a:r>
            <a:endParaRPr lang="en-US" sz="2000" dirty="0"/>
          </a:p>
        </p:txBody>
      </p:sp>
      <p:sp>
        <p:nvSpPr>
          <p:cNvPr id="230" name="Text 225"/>
          <p:cNvSpPr txBox="1"/>
          <p:nvPr/>
        </p:nvSpPr>
        <p:spPr>
          <a:xfrm>
            <a:off x="31226760" y="2715768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IPUMS NHIS v8.1 (Blewett et al., 2025).</a:t>
            </a:r>
            <a:endParaRPr lang="en-US" sz="2000" dirty="0"/>
          </a:p>
        </p:txBody>
      </p:sp>
      <p:sp>
        <p:nvSpPr>
          <p:cNvPr id="231" name="Shape 226"/>
          <p:cNvSpPr/>
          <p:nvPr/>
        </p:nvSpPr>
        <p:spPr>
          <a:xfrm>
            <a:off x="31226760" y="27660600"/>
            <a:ext cx="11612880" cy="1874520"/>
          </a:xfrm>
          <a:prstGeom prst="roundRect">
            <a:avLst>
              <a:gd name="adj" fmla="val 5854"/>
            </a:avLst>
          </a:prstGeom>
          <a:solidFill>
            <a:srgbClr val="F6F0E3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232" name="Text 227"/>
          <p:cNvSpPr txBox="1"/>
          <p:nvPr/>
        </p:nvSpPr>
        <p:spPr>
          <a:xfrm>
            <a:off x="31409640" y="27752040"/>
            <a:ext cx="11247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Contribution Statement</a:t>
            </a:r>
            <a:endParaRPr lang="en-US" sz="2400" dirty="0"/>
          </a:p>
          <a:p>
            <a:pPr indent="0" marL="0">
              <a:buNone/>
            </a:pPr>
            <a:r>
              <a:rPr lang="en-US" sz="2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(sole author) conceived and designed the study, prepared the data, performed all analyses, interpreted the results, wrote the manuscript, and designed this poster.</a:t>
            </a:r>
            <a:endParaRPr lang="en-US" sz="2400" dirty="0"/>
          </a:p>
        </p:txBody>
      </p:sp>
      <p:sp>
        <p:nvSpPr>
          <p:cNvPr id="233" name="Text 228"/>
          <p:cNvSpPr txBox="1"/>
          <p:nvPr/>
        </p:nvSpPr>
        <p:spPr>
          <a:xfrm>
            <a:off x="31226760" y="2971800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800" dirty="0"/>
          </a:p>
        </p:txBody>
      </p:sp>
      <p:sp>
        <p:nvSpPr>
          <p:cNvPr id="234" name="Text 229"/>
          <p:cNvSpPr txBox="1"/>
          <p:nvPr/>
        </p:nvSpPr>
        <p:spPr>
          <a:xfrm>
            <a:off x="31226760" y="30065472"/>
            <a:ext cx="11612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Blewett, L. A., et al. (2025). IPUMS Health Surveys: NHIS (Version 8.1). doi.org/10.18128/D071.V8.1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Goodwin, R. D., et al. (2022). Am. J. Prev. Med., 63(5), 726–733.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Kandola, A., et al. (2019). Neurosci. Biobehav. Rev., 107, 525–539.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Pearce, M., et al. (2022). JAMA Psychiatry, 79(6), 550–559.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Alzahrani, H., et al. (2024). J. Adv. Trends Med. Res., 862–869.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NIMH (n.d.). Major Depression. · WHO (2025). Depressive disorder (depression).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Moderate Physical Activity and Self-Reported Depression Outcomes (NHIS 2010-2023)</dc:title>
  <dc:subject>PptxGenJS Presentation</dc:subject>
  <dc:creator>Nicolas Greco</dc:creator>
  <cp:lastModifiedBy>Nicolas Greco</cp:lastModifiedBy>
  <cp:revision>1</cp:revision>
  <dcterms:created xsi:type="dcterms:W3CDTF">2026-10-19T00:41:00Z</dcterms:created>
  <dcterms:modified xsi:type="dcterms:W3CDTF">2026-10-19T00:41:00Z</dcterms:modified>
</cp:coreProperties>
</file>